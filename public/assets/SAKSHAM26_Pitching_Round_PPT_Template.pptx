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al Bold" panose="020B0704020202020204" pitchFamily="34" charset="0"/>
      <p:regular r:id="rId7"/>
      <p:bold r:id="rId8"/>
    </p:embeddedFont>
    <p:embeddedFont>
      <p:font typeface="Times New Roman Bold" panose="02020803070505020304" pitchFamily="18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734"/>
            <a:ext cx="18468145" cy="10393854"/>
          </a:xfrm>
          <a:custGeom>
            <a:avLst/>
            <a:gdLst/>
            <a:ahLst/>
            <a:cxnLst/>
            <a:rect l="l" t="t" r="r" b="b"/>
            <a:pathLst>
              <a:path w="18468145" h="10393854">
                <a:moveTo>
                  <a:pt x="0" y="0"/>
                </a:moveTo>
                <a:lnTo>
                  <a:pt x="18468145" y="0"/>
                </a:lnTo>
                <a:lnTo>
                  <a:pt x="18468145" y="10393854"/>
                </a:lnTo>
                <a:lnTo>
                  <a:pt x="0" y="10393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6229" y="3383280"/>
            <a:ext cx="11449240" cy="468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3"/>
              </a:lnSpc>
            </a:pPr>
            <a:endParaRPr dirty="0"/>
          </a:p>
          <a:p>
            <a:pPr marL="530709" lvl="1" indent="-265355" algn="l">
              <a:lnSpc>
                <a:spcPts val="3096"/>
              </a:lnSpc>
              <a:buFont typeface="Arial"/>
              <a:buChar char="•"/>
            </a:pPr>
            <a:r>
              <a:rPr lang="en-US" sz="293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:-</a:t>
            </a:r>
          </a:p>
          <a:p>
            <a:pPr marL="530709" lvl="1" indent="-265355" algn="l">
              <a:lnSpc>
                <a:spcPts val="3096"/>
              </a:lnSpc>
            </a:pPr>
            <a:endParaRPr lang="en-US" sz="2932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30709" lvl="1" indent="-265355" algn="l">
              <a:lnSpc>
                <a:spcPts val="3096"/>
              </a:lnSpc>
              <a:buFont typeface="Arial"/>
              <a:buChar char="•"/>
            </a:pPr>
            <a:r>
              <a:rPr lang="en-US" sz="293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College Name :-</a:t>
            </a:r>
          </a:p>
          <a:p>
            <a:pPr marL="530709" lvl="1" indent="-265355" algn="l">
              <a:lnSpc>
                <a:spcPts val="3096"/>
              </a:lnSpc>
            </a:pPr>
            <a:endParaRPr lang="en-US" sz="2932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30709" lvl="1" indent="-265355" algn="l">
              <a:lnSpc>
                <a:spcPts val="3096"/>
              </a:lnSpc>
              <a:buFont typeface="Arial"/>
              <a:buChar char="•"/>
            </a:pPr>
            <a:r>
              <a:rPr lang="en-US" sz="293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Domain:-</a:t>
            </a:r>
          </a:p>
          <a:p>
            <a:pPr marL="530709" lvl="1" indent="-265355" algn="l">
              <a:lnSpc>
                <a:spcPts val="3096"/>
              </a:lnSpc>
            </a:pPr>
            <a:endParaRPr lang="en-US" sz="2932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30709" lvl="1" indent="-265355" algn="l">
              <a:lnSpc>
                <a:spcPts val="3096"/>
              </a:lnSpc>
              <a:buFont typeface="Arial"/>
              <a:buChar char="•"/>
            </a:pPr>
            <a:r>
              <a:rPr lang="en-US" sz="2932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Innovation Title:-</a:t>
            </a:r>
          </a:p>
          <a:p>
            <a:pPr marL="530709" lvl="1" indent="-265355" algn="l">
              <a:lnSpc>
                <a:spcPts val="3096"/>
              </a:lnSpc>
            </a:pPr>
            <a:endParaRPr lang="en-US" sz="2932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30709" lvl="1" indent="-265355" algn="l">
              <a:lnSpc>
                <a:spcPts val="2533"/>
              </a:lnSpc>
            </a:pPr>
            <a:endParaRPr lang="en-US" sz="2932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30709" lvl="1" indent="-265355" algn="l">
              <a:lnSpc>
                <a:spcPts val="2533"/>
              </a:lnSpc>
            </a:pPr>
            <a:endParaRPr lang="en-US" sz="2932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30709" lvl="1" indent="-265355" algn="l">
              <a:lnSpc>
                <a:spcPts val="2533"/>
              </a:lnSpc>
            </a:pPr>
            <a:endParaRPr lang="en-US" sz="2932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571274" y="181032"/>
            <a:ext cx="1665446" cy="1395889"/>
            <a:chOff x="0" y="0"/>
            <a:chExt cx="2220595" cy="18611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20595" cy="1861185"/>
            </a:xfrm>
            <a:custGeom>
              <a:avLst/>
              <a:gdLst/>
              <a:ahLst/>
              <a:cxnLst/>
              <a:rect l="l" t="t" r="r" b="b"/>
              <a:pathLst>
                <a:path w="2220595" h="1861185">
                  <a:moveTo>
                    <a:pt x="0" y="0"/>
                  </a:moveTo>
                  <a:lnTo>
                    <a:pt x="2220595" y="0"/>
                  </a:lnTo>
                  <a:lnTo>
                    <a:pt x="2220595" y="1861185"/>
                  </a:lnTo>
                  <a:lnTo>
                    <a:pt x="0" y="1861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00" b="-30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4236720" y="417928"/>
            <a:ext cx="10850880" cy="39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Vidyavardhini’s College Of Engineering And Technology, Vasai Road (W)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06340" y="623878"/>
            <a:ext cx="8275320" cy="173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/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Telecommunication Engineering 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2026-2027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99005" y="2030087"/>
            <a:ext cx="11926310" cy="80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u="sng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Saksham ’26 | The Hardware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17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66162" y="2922899"/>
            <a:ext cx="16276320" cy="470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36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Proposed Innovation.</a:t>
            </a:r>
          </a:p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Solution Works.</a:t>
            </a:r>
          </a:p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&amp; Uniqueness.</a:t>
            </a:r>
          </a:p>
          <a:p>
            <a:pPr marL="651510" lvl="1" indent="-325755" algn="l">
              <a:lnSpc>
                <a:spcPts val="6480"/>
              </a:lnSpc>
            </a:pPr>
            <a:endParaRPr lang="en-US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1510" lvl="1" indent="-325755"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88341" y="1934801"/>
            <a:ext cx="3911317" cy="82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7"/>
              </a:lnSpc>
            </a:pPr>
            <a:r>
              <a:rPr lang="en-US" sz="4872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430780" y="259080"/>
            <a:ext cx="12656820" cy="2103110"/>
            <a:chOff x="0" y="0"/>
            <a:chExt cx="16875760" cy="280414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220595" cy="1861185"/>
              <a:chOff x="0" y="0"/>
              <a:chExt cx="2220595" cy="186118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220595" cy="1861185"/>
              </a:xfrm>
              <a:custGeom>
                <a:avLst/>
                <a:gdLst/>
                <a:ahLst/>
                <a:cxnLst/>
                <a:rect l="l" t="t" r="r" b="b"/>
                <a:pathLst>
                  <a:path w="2220595" h="1861185">
                    <a:moveTo>
                      <a:pt x="0" y="0"/>
                    </a:moveTo>
                    <a:lnTo>
                      <a:pt x="2220595" y="0"/>
                    </a:lnTo>
                    <a:lnTo>
                      <a:pt x="2220595" y="1861185"/>
                    </a:lnTo>
                    <a:lnTo>
                      <a:pt x="0" y="18611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300" b="-300"/>
                </a:stretch>
              </a:blip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407920" y="214973"/>
              <a:ext cx="14467840" cy="517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Vidyavardhini’s College Of Engineering And Technology, Vasai Road (W)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34080" y="489572"/>
              <a:ext cx="11033760" cy="2314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endParaRPr/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Electronics And Telecommunication Engineering 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Academic Year 2026-2027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734"/>
            <a:ext cx="18876317" cy="10623573"/>
          </a:xfrm>
          <a:custGeom>
            <a:avLst/>
            <a:gdLst/>
            <a:ahLst/>
            <a:cxnLst/>
            <a:rect l="l" t="t" r="r" b="b"/>
            <a:pathLst>
              <a:path w="18876317" h="10623573">
                <a:moveTo>
                  <a:pt x="0" y="0"/>
                </a:moveTo>
                <a:lnTo>
                  <a:pt x="18876317" y="0"/>
                </a:lnTo>
                <a:lnTo>
                  <a:pt x="18876317" y="10623573"/>
                </a:lnTo>
                <a:lnTo>
                  <a:pt x="0" y="1062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16166" y="1377591"/>
            <a:ext cx="14036040" cy="1463040"/>
            <a:chOff x="0" y="0"/>
            <a:chExt cx="18714720" cy="19507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14720" cy="1950722"/>
            </a:xfrm>
            <a:custGeom>
              <a:avLst/>
              <a:gdLst/>
              <a:ahLst/>
              <a:cxnLst/>
              <a:rect l="l" t="t" r="r" b="b"/>
              <a:pathLst>
                <a:path w="18714720" h="1950722">
                  <a:moveTo>
                    <a:pt x="0" y="0"/>
                  </a:moveTo>
                  <a:lnTo>
                    <a:pt x="18714720" y="0"/>
                  </a:lnTo>
                  <a:lnTo>
                    <a:pt x="18714720" y="1950722"/>
                  </a:lnTo>
                  <a:lnTo>
                    <a:pt x="0" y="1950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34" b="-136934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8714720" cy="192214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184"/>
                </a:lnSpc>
              </a:pPr>
              <a:r>
                <a:rPr lang="en-US" sz="4800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71274" y="181032"/>
            <a:ext cx="1665446" cy="1395889"/>
            <a:chOff x="0" y="0"/>
            <a:chExt cx="2220595" cy="18611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0595" cy="1861185"/>
            </a:xfrm>
            <a:custGeom>
              <a:avLst/>
              <a:gdLst/>
              <a:ahLst/>
              <a:cxnLst/>
              <a:rect l="l" t="t" r="r" b="b"/>
              <a:pathLst>
                <a:path w="2220595" h="1861185">
                  <a:moveTo>
                    <a:pt x="0" y="0"/>
                  </a:moveTo>
                  <a:lnTo>
                    <a:pt x="2220595" y="0"/>
                  </a:lnTo>
                  <a:lnTo>
                    <a:pt x="2220595" y="1861185"/>
                  </a:lnTo>
                  <a:lnTo>
                    <a:pt x="0" y="1861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00" b="-30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59335" y="3183531"/>
            <a:ext cx="15711602" cy="472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Technologies Used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Mention the programming languages, frameworks, hardware, sensors, AI/ML tools, and platforms used.</a:t>
            </a:r>
          </a:p>
          <a:p>
            <a:pPr algn="l">
              <a:lnSpc>
                <a:spcPts val="6480"/>
              </a:lnSpc>
            </a:pPr>
            <a:endParaRPr lang="en-US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648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Methodology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Explain the step-by-step working using a flowchart, block diagram, images, or working prototype.</a:t>
            </a:r>
          </a:p>
          <a:p>
            <a:pPr algn="l">
              <a:lnSpc>
                <a:spcPts val="4320"/>
              </a:lnSpc>
            </a:pPr>
            <a:endParaRPr lang="en-US"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36720" y="417928"/>
            <a:ext cx="10850880" cy="39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Vidyavardhini’s College Of Engineering And Technology, Vasai Road (W)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06340" y="623878"/>
            <a:ext cx="8275320" cy="173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/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Telecommunication Engineering 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2026-2027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89135"/>
            <a:ext cx="18966079" cy="10865270"/>
          </a:xfrm>
          <a:custGeom>
            <a:avLst/>
            <a:gdLst/>
            <a:ahLst/>
            <a:cxnLst/>
            <a:rect l="l" t="t" r="r" b="b"/>
            <a:pathLst>
              <a:path w="18966079" h="10865270">
                <a:moveTo>
                  <a:pt x="0" y="0"/>
                </a:moveTo>
                <a:lnTo>
                  <a:pt x="18966079" y="0"/>
                </a:lnTo>
                <a:lnTo>
                  <a:pt x="18966079" y="10865270"/>
                </a:lnTo>
                <a:lnTo>
                  <a:pt x="0" y="10865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5" r="-89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2339" y="1306723"/>
            <a:ext cx="14036040" cy="1463040"/>
            <a:chOff x="0" y="0"/>
            <a:chExt cx="18714720" cy="19507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14720" cy="1950722"/>
            </a:xfrm>
            <a:custGeom>
              <a:avLst/>
              <a:gdLst/>
              <a:ahLst/>
              <a:cxnLst/>
              <a:rect l="l" t="t" r="r" b="b"/>
              <a:pathLst>
                <a:path w="18714720" h="1950722">
                  <a:moveTo>
                    <a:pt x="0" y="0"/>
                  </a:moveTo>
                  <a:lnTo>
                    <a:pt x="18714720" y="0"/>
                  </a:lnTo>
                  <a:lnTo>
                    <a:pt x="18714720" y="1950722"/>
                  </a:lnTo>
                  <a:lnTo>
                    <a:pt x="0" y="1950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34" b="-136934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8714720" cy="192214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</a:t>
              </a:r>
              <a:r>
                <a:rPr lang="en-US" sz="4800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IMPACT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817304"/>
            <a:ext cx="15739636" cy="710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Feasibility:</a:t>
            </a:r>
            <a:r>
              <a:rPr lang="en-US" sz="2572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-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Technical: Uses readily available ESP32, sensors, camera, IoT and AI technologies.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Financial: Low-cost components and automation can reduce unnecessary pesticide and resource usage.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 &amp; Environmental: Real-time disease detection enables targeted treatment, saving water, chemicals, time and labour.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Challenges &amp; Risks</a:t>
            </a: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:-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Accuracy: Poor lighting or unclear images → Use diverse training images and image preprocessing.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Hardware/Connectivity: Sensor failures or network loss → Add calibration, local control and fault alerts.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&amp; Maintenance: Hardware damage and maintenance costs → Use modular, low-cost components and easy-to-replace parts.</a:t>
            </a:r>
          </a:p>
          <a:p>
            <a:pPr marL="555339" lvl="1" indent="-277670" algn="l">
              <a:lnSpc>
                <a:spcPts val="4629"/>
              </a:lnSpc>
              <a:buFont typeface="Arial"/>
              <a:buChar char="•"/>
            </a:pPr>
            <a:r>
              <a:rPr lang="en-US" sz="2572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Target Impact</a:t>
            </a:r>
            <a:r>
              <a:rPr lang="en-US" sz="2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Explain how the innovation can benefit the intended users or target audience.</a:t>
            </a:r>
          </a:p>
          <a:p>
            <a:pPr algn="l">
              <a:lnSpc>
                <a:spcPts val="3116"/>
              </a:lnSpc>
            </a:pPr>
            <a:endParaRPr lang="en-US" sz="2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077"/>
              </a:lnSpc>
            </a:pPr>
            <a:endParaRPr lang="en-US" sz="2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236720" y="417928"/>
            <a:ext cx="10850880" cy="39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Vidyavardhini’s College Of Engineering And Technology, Vasai Road (W)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71274" y="330756"/>
            <a:ext cx="1665446" cy="1395889"/>
            <a:chOff x="0" y="0"/>
            <a:chExt cx="2220595" cy="18611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20595" cy="1861185"/>
            </a:xfrm>
            <a:custGeom>
              <a:avLst/>
              <a:gdLst/>
              <a:ahLst/>
              <a:cxnLst/>
              <a:rect l="l" t="t" r="r" b="b"/>
              <a:pathLst>
                <a:path w="2220595" h="1861185">
                  <a:moveTo>
                    <a:pt x="0" y="0"/>
                  </a:moveTo>
                  <a:lnTo>
                    <a:pt x="2220595" y="0"/>
                  </a:lnTo>
                  <a:lnTo>
                    <a:pt x="2220595" y="1861185"/>
                  </a:lnTo>
                  <a:lnTo>
                    <a:pt x="0" y="1861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0" b="-11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006340" y="623878"/>
            <a:ext cx="8275320" cy="173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/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Telecommunication Engineering 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2026-2027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734"/>
            <a:ext cx="18476821" cy="10398737"/>
          </a:xfrm>
          <a:custGeom>
            <a:avLst/>
            <a:gdLst/>
            <a:ahLst/>
            <a:cxnLst/>
            <a:rect l="l" t="t" r="r" b="b"/>
            <a:pathLst>
              <a:path w="18476821" h="10398737">
                <a:moveTo>
                  <a:pt x="0" y="0"/>
                </a:moveTo>
                <a:lnTo>
                  <a:pt x="18476821" y="0"/>
                </a:lnTo>
                <a:lnTo>
                  <a:pt x="18476821" y="10398737"/>
                </a:lnTo>
                <a:lnTo>
                  <a:pt x="0" y="10398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0924" y="3356747"/>
            <a:ext cx="17074972" cy="660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sz="36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(3). </a:t>
            </a: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</a:t>
            </a:r>
          </a:p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marL="651510" lvl="1" indent="-325755" algn="l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</a:t>
            </a:r>
          </a:p>
          <a:p>
            <a:pPr marL="651510" lvl="1" indent="-325755" algn="l">
              <a:lnSpc>
                <a:spcPts val="6480"/>
              </a:lnSpc>
            </a:pPr>
            <a:endParaRPr lang="en-US" sz="36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l">
              <a:lnSpc>
                <a:spcPts val="3888"/>
              </a:lnSpc>
            </a:pPr>
            <a:endParaRPr lang="en-US" sz="36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l">
              <a:lnSpc>
                <a:spcPts val="3888"/>
              </a:lnSpc>
            </a:pPr>
            <a:endParaRPr lang="en-US" sz="36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l">
              <a:lnSpc>
                <a:spcPts val="3888"/>
              </a:lnSpc>
            </a:pPr>
            <a:endParaRPr lang="en-US" sz="36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51510" lvl="1" indent="-325755" algn="ctr">
              <a:lnSpc>
                <a:spcPts val="3888"/>
              </a:lnSpc>
            </a:pPr>
            <a:endParaRPr lang="en-US" sz="36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14054" y="2301242"/>
            <a:ext cx="10648712" cy="886396"/>
            <a:chOff x="0" y="0"/>
            <a:chExt cx="14198282" cy="11818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198278" cy="1181862"/>
            </a:xfrm>
            <a:custGeom>
              <a:avLst/>
              <a:gdLst/>
              <a:ahLst/>
              <a:cxnLst/>
              <a:rect l="l" t="t" r="r" b="b"/>
              <a:pathLst>
                <a:path w="14198278" h="1181862">
                  <a:moveTo>
                    <a:pt x="0" y="0"/>
                  </a:moveTo>
                  <a:lnTo>
                    <a:pt x="14198278" y="0"/>
                  </a:lnTo>
                  <a:lnTo>
                    <a:pt x="14198278" y="1181862"/>
                  </a:lnTo>
                  <a:lnTo>
                    <a:pt x="0" y="11818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083" b="-18408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4198282" cy="115328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5832"/>
                </a:lnSpc>
              </a:pPr>
              <a:r>
                <a:rPr lang="en-US" sz="5400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IMPORTANT INSTRUCTIONS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30780" y="259080"/>
            <a:ext cx="12656820" cy="2103110"/>
            <a:chOff x="0" y="0"/>
            <a:chExt cx="16875760" cy="280414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220595" cy="1861185"/>
              <a:chOff x="0" y="0"/>
              <a:chExt cx="2220595" cy="186118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220595" cy="1861185"/>
              </a:xfrm>
              <a:custGeom>
                <a:avLst/>
                <a:gdLst/>
                <a:ahLst/>
                <a:cxnLst/>
                <a:rect l="l" t="t" r="r" b="b"/>
                <a:pathLst>
                  <a:path w="2220595" h="1861185">
                    <a:moveTo>
                      <a:pt x="0" y="0"/>
                    </a:moveTo>
                    <a:lnTo>
                      <a:pt x="2220595" y="0"/>
                    </a:lnTo>
                    <a:lnTo>
                      <a:pt x="2220595" y="1861185"/>
                    </a:lnTo>
                    <a:lnTo>
                      <a:pt x="0" y="18611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110" b="-110"/>
                </a:stretch>
              </a:blip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407920" y="214973"/>
              <a:ext cx="14467840" cy="517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Vidyavardhini’s College Of Engineering And Technology, Vasai Road (W)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4080" y="489572"/>
              <a:ext cx="11033760" cy="2314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endParaRPr/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Electronics And Telecommunication Engineering 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Academic Year 2026-2027</a:t>
              </a:r>
            </a:p>
            <a:p>
              <a:pPr algn="l">
                <a:lnSpc>
                  <a:spcPts val="2879"/>
                </a:lnSpc>
              </a:pPr>
              <a:endPara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388</Words>
  <Application>Microsoft Office PowerPoint</Application>
  <PresentationFormat>Custom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Arial Bold</vt:lpstr>
      <vt:lpstr>Times New Roman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Proposed Solution (Describe your Idea/Solution/Prototype) Our Proposed Innovation. How the Solution Works. Innovation &amp; Uniqueness.</dc:title>
  <dc:creator>SAHIL</dc:creator>
  <cp:lastModifiedBy>Sahil Patil</cp:lastModifiedBy>
  <cp:revision>2</cp:revision>
  <dcterms:created xsi:type="dcterms:W3CDTF">2006-08-16T00:00:00Z</dcterms:created>
  <dcterms:modified xsi:type="dcterms:W3CDTF">2026-09-23T13:01:47Z</dcterms:modified>
  <dc:identifier>DAHV8ZWhLsU</dc:identifier>
</cp:coreProperties>
</file>